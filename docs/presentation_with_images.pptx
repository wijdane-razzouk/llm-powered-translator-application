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779" autoAdjust="0"/>
  </p:normalViewPr>
  <p:slideViewPr>
    <p:cSldViewPr snapToGrid="0">
      <p:cViewPr varScale="1">
        <p:scale>
          <a:sx n="70" d="100"/>
          <a:sy n="70" d="100"/>
        </p:scale>
        <p:origin x="1138" y="-49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D76162-B466-43D5-929D-DFF097B56E3A}" type="datetimeFigureOut">
              <a:rPr lang="fr-FR" smtClean="0"/>
              <a:t>23/12/2025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C56EB-78D9-469E-BA5B-4013F9A0C805}" type="slidenum">
              <a:rPr lang="fr-FR" smtClean="0"/>
              <a:t>‹N°›</a:t>
            </a:fld>
            <a:endParaRPr lang="fr-FR"/>
          </a:p>
        </p:txBody>
      </p:sp>
    </p:spTree>
    <p:extLst>
      <p:ext uri="{BB962C8B-B14F-4D97-AF65-F5344CB8AC3E}">
        <p14:creationId xmlns:p14="http://schemas.microsoft.com/office/powerpoint/2010/main" val="40019986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b="0" i="0" kern="1200" dirty="0" smtClean="0">
                <a:solidFill>
                  <a:schemeClr val="tx1"/>
                </a:solidFill>
                <a:effectLst/>
                <a:latin typeface="+mn-lt"/>
                <a:ea typeface="+mn-ea"/>
                <a:cs typeface="+mn-cs"/>
              </a:rPr>
              <a:t>Got it — here’s a </a:t>
            </a:r>
            <a:r>
              <a:rPr lang="en-US" sz="1200" b="1" i="0" kern="1200" dirty="0" smtClean="0">
                <a:solidFill>
                  <a:schemeClr val="tx1"/>
                </a:solidFill>
                <a:effectLst/>
                <a:latin typeface="+mn-lt"/>
                <a:ea typeface="+mn-ea"/>
                <a:cs typeface="+mn-cs"/>
              </a:rPr>
              <a:t>longer English script</a:t>
            </a:r>
            <a:r>
              <a:rPr lang="en-US" sz="1200" b="0" i="0" kern="1200" dirty="0" smtClean="0">
                <a:solidFill>
                  <a:schemeClr val="tx1"/>
                </a:solidFill>
                <a:effectLst/>
                <a:latin typeface="+mn-lt"/>
                <a:ea typeface="+mn-ea"/>
                <a:cs typeface="+mn-cs"/>
              </a:rPr>
              <a:t> matched to the French length, still ~5 minutes total.</a:t>
            </a:r>
          </a:p>
          <a:p>
            <a:r>
              <a:rPr lang="en-US" sz="1200" b="0" i="0" kern="1200" dirty="0" smtClean="0">
                <a:solidFill>
                  <a:schemeClr val="tx1"/>
                </a:solidFill>
                <a:effectLst/>
                <a:latin typeface="+mn-lt"/>
                <a:ea typeface="+mn-ea"/>
                <a:cs typeface="+mn-cs"/>
              </a:rPr>
              <a:t>Slide 1 —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Translator (Title)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“Hello and thanks for joining. Today I’m presenting a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translator delivered as both a web app and a Chrome extension. The objective is simple: translate English into Moroccan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accurately, with support for text, voice, and images. The system is designed to be modular and easy to evolve. A single REST backend handles all core logic, while the UI remains lightweight. This makes it easy to swap models or services without rebuilding the interface.”</a:t>
            </a:r>
          </a:p>
          <a:p>
            <a:r>
              <a:rPr lang="en-US" sz="1200" b="0" i="0" kern="1200" dirty="0" smtClean="0">
                <a:solidFill>
                  <a:schemeClr val="tx1"/>
                </a:solidFill>
                <a:effectLst/>
                <a:latin typeface="+mn-lt"/>
                <a:ea typeface="+mn-ea"/>
                <a:cs typeface="+mn-cs"/>
              </a:rPr>
              <a:t>Slide 2 — Architecture Overview</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“This slide shows the full architecture. Users interact through the web UI or the Chrome side panel. Both send requests to the same backend API, which is the single source of truth. The backend orchestrates multiple services based on the input type. For text, it directly calls the LLM. For voice, it runs Whisper for transcription, then passes the transcript to the LLM. For images, it uses OCR to extract text before translation. Finally, if audio output is requested, a TTS module generates speech. The key design is separation of concerns: each service is isolated, which makes debugging, scaling, and replacement straightforward.”</a:t>
            </a:r>
          </a:p>
          <a:p>
            <a:r>
              <a:rPr lang="en-US" sz="1200" b="0" i="0" kern="1200" dirty="0" smtClean="0">
                <a:solidFill>
                  <a:schemeClr val="tx1"/>
                </a:solidFill>
                <a:effectLst/>
                <a:latin typeface="+mn-lt"/>
                <a:ea typeface="+mn-ea"/>
                <a:cs typeface="+mn-cs"/>
              </a:rPr>
              <a:t>Slide 3 — Text Translation Pipeline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text input, the pipeline is direct and fast. The client sends the text to /</a:t>
            </a:r>
            <a:r>
              <a:rPr lang="en-US" sz="1200" b="0" i="0" kern="1200" dirty="0" err="1" smtClean="0">
                <a:solidFill>
                  <a:schemeClr val="tx1"/>
                </a:solidFill>
                <a:effectLst/>
                <a:latin typeface="+mn-lt"/>
                <a:ea typeface="+mn-ea"/>
                <a:cs typeface="+mn-cs"/>
              </a:rPr>
              <a:t>api</a:t>
            </a:r>
            <a:r>
              <a:rPr lang="en-US" sz="1200" b="0" i="0" kern="1200" dirty="0" smtClean="0">
                <a:solidFill>
                  <a:schemeClr val="tx1"/>
                </a:solidFill>
                <a:effectLst/>
                <a:latin typeface="+mn-lt"/>
                <a:ea typeface="+mn-ea"/>
                <a:cs typeface="+mn-cs"/>
              </a:rPr>
              <a:t>/translator/translate. The backend validates the request and forwards it to the translation layer. The LLM produces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output in Arabic script and returns it to the UI. This flow is the baseline for quality and speed, and it’s where most users start. Because translation is centralized in the backend, we can switch between Gemini and a local model without changing the UI. That also allows offline usage if a local LLM is available.”</a:t>
            </a:r>
          </a:p>
          <a:p>
            <a:r>
              <a:rPr lang="en-US" sz="1200" b="0" i="0" kern="1200" dirty="0" smtClean="0">
                <a:solidFill>
                  <a:schemeClr val="tx1"/>
                </a:solidFill>
                <a:effectLst/>
                <a:latin typeface="+mn-lt"/>
                <a:ea typeface="+mn-ea"/>
                <a:cs typeface="+mn-cs"/>
              </a:rPr>
              <a:t>Slide 4 — Voice Translation Pipeline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voice, the system adds two extra steps. The client records audio and sends it as base64. The backend first calls Whisper to convert speech into text. That transcript is then translated by the same LLM used for text. If the user wants audio output, the translated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text is passed to a TTS engine to produce speech. This provides a full voice-to-voice experience. Importantly, Whisper is an optional service — if it’s not running, voice features fail gracefully while text and images continue to work.”</a:t>
            </a:r>
          </a:p>
          <a:p>
            <a:r>
              <a:rPr lang="en-US" sz="1200" b="0" i="0" kern="1200" dirty="0" smtClean="0">
                <a:solidFill>
                  <a:schemeClr val="tx1"/>
                </a:solidFill>
                <a:effectLst/>
                <a:latin typeface="+mn-lt"/>
                <a:ea typeface="+mn-ea"/>
                <a:cs typeface="+mn-cs"/>
              </a:rPr>
              <a:t>Slide 5 — Image Translation Pipeline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images, the backend performs OCR first. We use local </a:t>
            </a:r>
            <a:r>
              <a:rPr lang="en-US" sz="1200" b="0" i="0" kern="1200" dirty="0" err="1" smtClean="0">
                <a:solidFill>
                  <a:schemeClr val="tx1"/>
                </a:solidFill>
                <a:effectLst/>
                <a:latin typeface="+mn-lt"/>
                <a:ea typeface="+mn-ea"/>
                <a:cs typeface="+mn-cs"/>
              </a:rPr>
              <a:t>Tesseract</a:t>
            </a:r>
            <a:r>
              <a:rPr lang="en-US" sz="1200" b="0" i="0" kern="1200" dirty="0" smtClean="0">
                <a:solidFill>
                  <a:schemeClr val="tx1"/>
                </a:solidFill>
                <a:effectLst/>
                <a:latin typeface="+mn-lt"/>
                <a:ea typeface="+mn-ea"/>
                <a:cs typeface="+mn-cs"/>
              </a:rPr>
              <a:t> to detect and extract the visible text. That extracted text is then passed to the translation layer. If </a:t>
            </a:r>
            <a:r>
              <a:rPr lang="en-US" sz="1200" b="0" i="0" kern="1200" dirty="0" err="1" smtClean="0">
                <a:solidFill>
                  <a:schemeClr val="tx1"/>
                </a:solidFill>
                <a:effectLst/>
                <a:latin typeface="+mn-lt"/>
                <a:ea typeface="+mn-ea"/>
                <a:cs typeface="+mn-cs"/>
              </a:rPr>
              <a:t>Tesseract</a:t>
            </a:r>
            <a:r>
              <a:rPr lang="en-US" sz="1200" b="0" i="0" kern="1200" dirty="0" smtClean="0">
                <a:solidFill>
                  <a:schemeClr val="tx1"/>
                </a:solidFill>
                <a:effectLst/>
                <a:latin typeface="+mn-lt"/>
                <a:ea typeface="+mn-ea"/>
                <a:cs typeface="+mn-cs"/>
              </a:rPr>
              <a:t> returns no result and a Gemini key is available, the system can fall back to Gemini Vision for OCR. The OCR and translation steps are intentionally separated so we can evaluate OCR accuracy independently from translation quality, and tune each one without affecting the other.”</a:t>
            </a:r>
          </a:p>
          <a:p>
            <a:r>
              <a:rPr lang="en-US" sz="1200" b="0" i="0" kern="1200" dirty="0" smtClean="0">
                <a:solidFill>
                  <a:schemeClr val="tx1"/>
                </a:solidFill>
                <a:effectLst/>
                <a:latin typeface="+mn-lt"/>
                <a:ea typeface="+mn-ea"/>
                <a:cs typeface="+mn-cs"/>
              </a:rPr>
              <a:t>Slide 6 — Modular Architecture</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“The final point is modularity and maintainability. The UI is decoupled from the backend, which makes it easy to deploy multiple clients. Whisper, OCR, TTS, and the LLM are all swappable components. We can disable optional services, change models, or adjust prompts without rewriting the front end. This structure supports fast iteration and deployment to different environments. In summary, the project delivers a clear, multi‑modal English‑to‑</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pipeline that is stable, extensible, and ready for real usage.”</a:t>
            </a:r>
          </a:p>
          <a:p>
            <a:endParaRPr lang="fr-FR" dirty="0"/>
          </a:p>
        </p:txBody>
      </p:sp>
      <p:sp>
        <p:nvSpPr>
          <p:cNvPr id="4" name="Espace réservé du numéro de diapositive 3"/>
          <p:cNvSpPr>
            <a:spLocks noGrp="1"/>
          </p:cNvSpPr>
          <p:nvPr>
            <p:ph type="sldNum" sz="quarter" idx="10"/>
          </p:nvPr>
        </p:nvSpPr>
        <p:spPr/>
        <p:txBody>
          <a:bodyPr/>
          <a:lstStyle/>
          <a:p>
            <a:fld id="{CA6C56EB-78D9-469E-BA5B-4013F9A0C805}" type="slidenum">
              <a:rPr lang="fr-FR" smtClean="0"/>
              <a:t>2</a:t>
            </a:fld>
            <a:endParaRPr lang="fr-FR"/>
          </a:p>
        </p:txBody>
      </p:sp>
    </p:spTree>
    <p:extLst>
      <p:ext uri="{BB962C8B-B14F-4D97-AF65-F5344CB8AC3E}">
        <p14:creationId xmlns:p14="http://schemas.microsoft.com/office/powerpoint/2010/main" val="702616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en-US" sz="1200" b="0" i="0" kern="1200" dirty="0" err="1" smtClean="0">
                <a:solidFill>
                  <a:schemeClr val="tx1"/>
                </a:solidFill>
                <a:effectLst/>
                <a:latin typeface="+mn-lt"/>
                <a:ea typeface="+mn-ea"/>
                <a:cs typeface="+mn-cs"/>
              </a:rPr>
              <a:t>lide</a:t>
            </a:r>
            <a:r>
              <a:rPr lang="en-US" sz="1200" b="0" i="0" kern="1200" dirty="0" smtClean="0">
                <a:solidFill>
                  <a:schemeClr val="tx1"/>
                </a:solidFill>
                <a:effectLst/>
                <a:latin typeface="+mn-lt"/>
                <a:ea typeface="+mn-ea"/>
                <a:cs typeface="+mn-cs"/>
              </a:rPr>
              <a:t> 1 —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Translator (Title) ~45s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“Hello and thanks for joining. Today I’m presenting a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translator delivered as a web app and a Chrome extension. The goal is to provide fast English‑to‑</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translation while keeping the architecture modular. A single REST backend handles all logic, which keeps the UI thin and makes it easy to swap services or models without changing the interface.”</a:t>
            </a:r>
          </a:p>
          <a:p>
            <a:r>
              <a:rPr lang="en-US" sz="1200" b="0" i="0" kern="1200" dirty="0" smtClean="0">
                <a:solidFill>
                  <a:schemeClr val="tx1"/>
                </a:solidFill>
                <a:effectLst/>
                <a:latin typeface="+mn-lt"/>
                <a:ea typeface="+mn-ea"/>
                <a:cs typeface="+mn-cs"/>
              </a:rPr>
              <a:t>Slide 2 — Architecture Overview ~55s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“This slide shows the full architecture. Users interact through the web UI or the extension. Both call the same backend API. The backend orchestrates services depending on the input type: for text it goes straight to the LLM; for voice it uses Whisper to transcribe first, then translates; for images it uses </a:t>
            </a:r>
            <a:r>
              <a:rPr lang="en-US" sz="1200" b="0" i="0" kern="1200" dirty="0" err="1" smtClean="0">
                <a:solidFill>
                  <a:schemeClr val="tx1"/>
                </a:solidFill>
                <a:effectLst/>
                <a:latin typeface="+mn-lt"/>
                <a:ea typeface="+mn-ea"/>
                <a:cs typeface="+mn-cs"/>
              </a:rPr>
              <a:t>Tesseract</a:t>
            </a:r>
            <a:r>
              <a:rPr lang="en-US" sz="1200" b="0" i="0" kern="1200" dirty="0" smtClean="0">
                <a:solidFill>
                  <a:schemeClr val="tx1"/>
                </a:solidFill>
                <a:effectLst/>
                <a:latin typeface="+mn-lt"/>
                <a:ea typeface="+mn-ea"/>
                <a:cs typeface="+mn-cs"/>
              </a:rPr>
              <a:t> OCR to extract text, then translates. If audio output is needed, a TTS service synthesizes speech. This pipeline keeps components independent and replaceable.”</a:t>
            </a:r>
          </a:p>
          <a:p>
            <a:r>
              <a:rPr lang="en-US" sz="1200" b="0" i="0" kern="1200" dirty="0" smtClean="0">
                <a:solidFill>
                  <a:schemeClr val="tx1"/>
                </a:solidFill>
                <a:effectLst/>
                <a:latin typeface="+mn-lt"/>
                <a:ea typeface="+mn-ea"/>
                <a:cs typeface="+mn-cs"/>
              </a:rPr>
              <a:t>Slide 3 — Text Translation Pipeline ~55s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text input, the flow is direct. The UI sends the text to /</a:t>
            </a:r>
            <a:r>
              <a:rPr lang="en-US" sz="1200" b="0" i="0" kern="1200" dirty="0" err="1" smtClean="0">
                <a:solidFill>
                  <a:schemeClr val="tx1"/>
                </a:solidFill>
                <a:effectLst/>
                <a:latin typeface="+mn-lt"/>
                <a:ea typeface="+mn-ea"/>
                <a:cs typeface="+mn-cs"/>
              </a:rPr>
              <a:t>api</a:t>
            </a:r>
            <a:r>
              <a:rPr lang="en-US" sz="1200" b="0" i="0" kern="1200" dirty="0" smtClean="0">
                <a:solidFill>
                  <a:schemeClr val="tx1"/>
                </a:solidFill>
                <a:effectLst/>
                <a:latin typeface="+mn-lt"/>
                <a:ea typeface="+mn-ea"/>
                <a:cs typeface="+mn-cs"/>
              </a:rPr>
              <a:t>/translator/translate, the backend validates the request, and the LLM produces a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translation in Arabic script. The result is returned to the client. This path is the fastest and serves as the baseline for quality. We can switch between Gemini and a local model without touching the UI.”</a:t>
            </a:r>
          </a:p>
          <a:p>
            <a:r>
              <a:rPr lang="en-US" sz="1200" b="0" i="0" kern="1200" dirty="0" smtClean="0">
                <a:solidFill>
                  <a:schemeClr val="tx1"/>
                </a:solidFill>
                <a:effectLst/>
                <a:latin typeface="+mn-lt"/>
                <a:ea typeface="+mn-ea"/>
                <a:cs typeface="+mn-cs"/>
              </a:rPr>
              <a:t>Slide 4 — Voice Translation Pipeline ~60s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voice, the client records audio and sends it as base64. The backend runs Whisper for speech‑to‑text, then passes the transcript to the LLM for </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translation. If the user wants audio output, TTS generates it. This pipeline is longer but enables hands‑free use. It is optional: if Whisper is offline, text and image features still work.”</a:t>
            </a:r>
          </a:p>
          <a:p>
            <a:r>
              <a:rPr lang="en-US" sz="1200" b="0" i="0" kern="1200" dirty="0" smtClean="0">
                <a:solidFill>
                  <a:schemeClr val="tx1"/>
                </a:solidFill>
                <a:effectLst/>
                <a:latin typeface="+mn-lt"/>
                <a:ea typeface="+mn-ea"/>
                <a:cs typeface="+mn-cs"/>
              </a:rPr>
              <a:t>Slide 5 — Image Translation Pipeline ~55s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“For images, the backend performs OCR first. We use local </a:t>
            </a:r>
            <a:r>
              <a:rPr lang="en-US" sz="1200" b="0" i="0" kern="1200" dirty="0" err="1" smtClean="0">
                <a:solidFill>
                  <a:schemeClr val="tx1"/>
                </a:solidFill>
                <a:effectLst/>
                <a:latin typeface="+mn-lt"/>
                <a:ea typeface="+mn-ea"/>
                <a:cs typeface="+mn-cs"/>
              </a:rPr>
              <a:t>Tesseract</a:t>
            </a:r>
            <a:r>
              <a:rPr lang="en-US" sz="1200" b="0" i="0" kern="1200" dirty="0" smtClean="0">
                <a:solidFill>
                  <a:schemeClr val="tx1"/>
                </a:solidFill>
                <a:effectLst/>
                <a:latin typeface="+mn-lt"/>
                <a:ea typeface="+mn-ea"/>
                <a:cs typeface="+mn-cs"/>
              </a:rPr>
              <a:t> to extract text from the image, then send that text to the same LLM for translation. If </a:t>
            </a:r>
            <a:r>
              <a:rPr lang="en-US" sz="1200" b="0" i="0" kern="1200" dirty="0" err="1" smtClean="0">
                <a:solidFill>
                  <a:schemeClr val="tx1"/>
                </a:solidFill>
                <a:effectLst/>
                <a:latin typeface="+mn-lt"/>
                <a:ea typeface="+mn-ea"/>
                <a:cs typeface="+mn-cs"/>
              </a:rPr>
              <a:t>Tesseract</a:t>
            </a:r>
            <a:r>
              <a:rPr lang="en-US" sz="1200" b="0" i="0" kern="1200" dirty="0" smtClean="0">
                <a:solidFill>
                  <a:schemeClr val="tx1"/>
                </a:solidFill>
                <a:effectLst/>
                <a:latin typeface="+mn-lt"/>
                <a:ea typeface="+mn-ea"/>
                <a:cs typeface="+mn-cs"/>
              </a:rPr>
              <a:t> fails and a Gemini key is available, we can fall back to Gemini Vision. Separating OCR from translation helps debugging and lets us tune each step independently.”</a:t>
            </a:r>
          </a:p>
          <a:p>
            <a:r>
              <a:rPr lang="en-US" sz="1200" b="0" i="0" kern="1200" dirty="0" smtClean="0">
                <a:solidFill>
                  <a:schemeClr val="tx1"/>
                </a:solidFill>
                <a:effectLst/>
                <a:latin typeface="+mn-lt"/>
                <a:ea typeface="+mn-ea"/>
                <a:cs typeface="+mn-cs"/>
              </a:rPr>
              <a:t>Slide 6 — Modular Architecture ~50s</a:t>
            </a:r>
            <a:br>
              <a:rPr lang="en-US" sz="1200" b="0" i="0" kern="1200" dirty="0" smtClean="0">
                <a:solidFill>
                  <a:schemeClr val="tx1"/>
                </a:solidFill>
                <a:effectLst/>
                <a:latin typeface="+mn-lt"/>
                <a:ea typeface="+mn-ea"/>
                <a:cs typeface="+mn-cs"/>
              </a:rPr>
            </a:br>
            <a:r>
              <a:rPr lang="en-US" sz="1200" b="0" i="0" kern="1200" dirty="0" smtClean="0">
                <a:solidFill>
                  <a:schemeClr val="tx1"/>
                </a:solidFill>
                <a:effectLst/>
                <a:latin typeface="+mn-lt"/>
                <a:ea typeface="+mn-ea"/>
                <a:cs typeface="+mn-cs"/>
              </a:rPr>
              <a:t>“The key design choice is modularity. The UI is decoupled from the backend. Whisper, OCR, TTS, and the LLM are all swappable components. This makes the system easier to maintain and deploy. In summary, this project delivers a practical, multi‑modal English‑to‑</a:t>
            </a:r>
            <a:r>
              <a:rPr lang="en-US" sz="1200" b="0" i="0" kern="1200" dirty="0" err="1" smtClean="0">
                <a:solidFill>
                  <a:schemeClr val="tx1"/>
                </a:solidFill>
                <a:effectLst/>
                <a:latin typeface="+mn-lt"/>
                <a:ea typeface="+mn-ea"/>
                <a:cs typeface="+mn-cs"/>
              </a:rPr>
              <a:t>Darija</a:t>
            </a:r>
            <a:r>
              <a:rPr lang="en-US" sz="1200" b="0" i="0" kern="1200" dirty="0" smtClean="0">
                <a:solidFill>
                  <a:schemeClr val="tx1"/>
                </a:solidFill>
                <a:effectLst/>
                <a:latin typeface="+mn-lt"/>
                <a:ea typeface="+mn-ea"/>
                <a:cs typeface="+mn-cs"/>
              </a:rPr>
              <a:t> pipeline with a clean and extensible architecture.”</a:t>
            </a:r>
          </a:p>
          <a:p>
            <a:r>
              <a:rPr lang="en-US" sz="1200" b="0" i="0" kern="1200" dirty="0" smtClean="0">
                <a:solidFill>
                  <a:schemeClr val="tx1"/>
                </a:solidFill>
                <a:effectLst/>
                <a:latin typeface="+mn-lt"/>
                <a:ea typeface="+mn-ea"/>
                <a:cs typeface="+mn-cs"/>
              </a:rPr>
              <a:t>If you want a shorter 3‑minute version or a more detailed 7‑minute version, tell me.</a:t>
            </a:r>
          </a:p>
          <a:p>
            <a:endParaRPr lang="fr-FR" dirty="0"/>
          </a:p>
        </p:txBody>
      </p:sp>
      <p:sp>
        <p:nvSpPr>
          <p:cNvPr id="4" name="Espace réservé du numéro de diapositive 3"/>
          <p:cNvSpPr>
            <a:spLocks noGrp="1"/>
          </p:cNvSpPr>
          <p:nvPr>
            <p:ph type="sldNum" sz="quarter" idx="10"/>
          </p:nvPr>
        </p:nvSpPr>
        <p:spPr/>
        <p:txBody>
          <a:bodyPr/>
          <a:lstStyle/>
          <a:p>
            <a:fld id="{CA6C56EB-78D9-469E-BA5B-4013F9A0C805}" type="slidenum">
              <a:rPr lang="fr-FR" smtClean="0"/>
              <a:t>6</a:t>
            </a:fld>
            <a:endParaRPr lang="fr-FR"/>
          </a:p>
        </p:txBody>
      </p:sp>
    </p:spTree>
    <p:extLst>
      <p:ext uri="{BB962C8B-B14F-4D97-AF65-F5344CB8AC3E}">
        <p14:creationId xmlns:p14="http://schemas.microsoft.com/office/powerpoint/2010/main" val="2050618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1178140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2477741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847807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65BF7B01-C8C3-4E3D-8C07-FA28E8760471}" type="datetimeFigureOut">
              <a:rPr lang="fr-FR" smtClean="0"/>
              <a:t>23/12/2025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16306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65BF7B01-C8C3-4E3D-8C07-FA28E8760471}" type="datetimeFigureOut">
              <a:rPr lang="fr-FR" smtClean="0"/>
              <a:t>23/12/2025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2982691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65BF7B01-C8C3-4E3D-8C07-FA28E8760471}" type="datetimeFigureOut">
              <a:rPr lang="fr-FR" smtClean="0"/>
              <a:t>23/12/2025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4088389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65BF7B01-C8C3-4E3D-8C07-FA28E8760471}" type="datetimeFigureOut">
              <a:rPr lang="fr-FR" smtClean="0"/>
              <a:t>23/12/2025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769827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5BF7B01-C8C3-4E3D-8C07-FA28E8760471}" type="datetimeFigureOut">
              <a:rPr lang="fr-FR" smtClean="0"/>
              <a:t>23/12/2025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2744470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65BF7B01-C8C3-4E3D-8C07-FA28E8760471}" type="datetimeFigureOut">
              <a:rPr lang="fr-FR" smtClean="0"/>
              <a:t>23/12/2025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17466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2081064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2B3B8665-3494-402E-A3F8-8166BEC57DD7}" type="slidenum">
              <a:rPr lang="fr-FR" smtClean="0"/>
              <a:t>‹N°›</a:t>
            </a:fld>
            <a:endParaRPr lang="fr-FR"/>
          </a:p>
        </p:txBody>
      </p:sp>
    </p:spTree>
    <p:extLst>
      <p:ext uri="{BB962C8B-B14F-4D97-AF65-F5344CB8AC3E}">
        <p14:creationId xmlns:p14="http://schemas.microsoft.com/office/powerpoint/2010/main" val="1314264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BF7B01-C8C3-4E3D-8C07-FA28E8760471}" type="datetimeFigureOut">
              <a:rPr lang="fr-FR" smtClean="0"/>
              <a:t>23/12/2025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3B8665-3494-402E-A3F8-8166BEC57DD7}" type="slidenum">
              <a:rPr lang="fr-FR" smtClean="0"/>
              <a:t>‹N°›</a:t>
            </a:fld>
            <a:endParaRPr lang="fr-FR"/>
          </a:p>
        </p:txBody>
      </p:sp>
    </p:spTree>
    <p:extLst>
      <p:ext uri="{BB962C8B-B14F-4D97-AF65-F5344CB8AC3E}">
        <p14:creationId xmlns:p14="http://schemas.microsoft.com/office/powerpoint/2010/main" val="13539947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p:txBody>
          <a:bodyPr/>
          <a:lstStyle/>
          <a:p>
            <a:r>
              <a:rPr lang="fr-FR" smtClean="0"/>
              <a:t>Darija Translator</a:t>
            </a:r>
            <a:endParaRPr lang="fr-FR"/>
          </a:p>
        </p:txBody>
      </p:sp>
      <p:sp>
        <p:nvSpPr>
          <p:cNvPr id="3" name="Sous-titre 2"/>
          <p:cNvSpPr>
            <a:spLocks noGrp="1"/>
          </p:cNvSpPr>
          <p:nvPr>
            <p:ph type="subTitle" idx="1"/>
          </p:nvPr>
        </p:nvSpPr>
        <p:spPr/>
        <p:txBody>
          <a:bodyPr/>
          <a:lstStyle/>
          <a:p>
            <a:r>
              <a:rPr lang="fr-FR" smtClean="0"/>
              <a:t>Architecture and Pipeline</a:t>
            </a:r>
            <a:endParaRPr lang="fr-FR"/>
          </a:p>
        </p:txBody>
      </p:sp>
    </p:spTree>
    <p:extLst>
      <p:ext uri="{BB962C8B-B14F-4D97-AF65-F5344CB8AC3E}">
        <p14:creationId xmlns:p14="http://schemas.microsoft.com/office/powerpoint/2010/main" val="7886678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Architecture Overview</a:t>
            </a:r>
            <a:endParaRPr lang="fr-FR"/>
          </a:p>
        </p:txBody>
      </p:sp>
      <p:pic>
        <p:nvPicPr>
          <p:cNvPr id="3" name="Image 2"/>
          <p:cNvPicPr>
            <a:picLocks/>
          </p:cNvPicPr>
          <p:nvPr/>
        </p:nvPicPr>
        <p:blipFill>
          <a:blip r:embed="rId3">
            <a:extLst>
              <a:ext uri="{28A0092B-C50C-407E-A947-70E740481C1C}">
                <a14:useLocalDpi xmlns:a14="http://schemas.microsoft.com/office/drawing/2010/main" val="0"/>
              </a:ext>
            </a:extLst>
          </a:blip>
          <a:stretch>
            <a:fillRect/>
          </a:stretch>
        </p:blipFill>
        <p:spPr>
          <a:xfrm>
            <a:off x="508000" y="1524000"/>
            <a:ext cx="11430000" cy="6604000"/>
          </a:xfrm>
          <a:prstGeom prst="rect">
            <a:avLst/>
          </a:prstGeom>
        </p:spPr>
      </p:pic>
    </p:spTree>
    <p:extLst>
      <p:ext uri="{BB962C8B-B14F-4D97-AF65-F5344CB8AC3E}">
        <p14:creationId xmlns:p14="http://schemas.microsoft.com/office/powerpoint/2010/main" val="3565133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Text Translation Pipeline</a:t>
            </a:r>
            <a:endParaRPr lang="fr-FR"/>
          </a:p>
        </p:txBody>
      </p:sp>
      <p:pic>
        <p:nvPicPr>
          <p:cNvPr id="3" name="Image 2"/>
          <p:cNvPicPr>
            <a:picLocks/>
          </p:cNvPicPr>
          <p:nvPr/>
        </p:nvPicPr>
        <p:blipFill>
          <a:blip r:embed="rId2">
            <a:extLst>
              <a:ext uri="{28A0092B-C50C-407E-A947-70E740481C1C}">
                <a14:useLocalDpi xmlns:a14="http://schemas.microsoft.com/office/drawing/2010/main" val="0"/>
              </a:ext>
            </a:extLst>
          </a:blip>
          <a:stretch>
            <a:fillRect/>
          </a:stretch>
        </p:blipFill>
        <p:spPr>
          <a:xfrm>
            <a:off x="508000" y="1524000"/>
            <a:ext cx="11430000" cy="6604000"/>
          </a:xfrm>
          <a:prstGeom prst="rect">
            <a:avLst/>
          </a:prstGeom>
        </p:spPr>
      </p:pic>
    </p:spTree>
    <p:extLst>
      <p:ext uri="{BB962C8B-B14F-4D97-AF65-F5344CB8AC3E}">
        <p14:creationId xmlns:p14="http://schemas.microsoft.com/office/powerpoint/2010/main" val="1855482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Voice Translation Pipeline</a:t>
            </a:r>
            <a:endParaRPr lang="fr-FR"/>
          </a:p>
        </p:txBody>
      </p:sp>
      <p:pic>
        <p:nvPicPr>
          <p:cNvPr id="3" name="Image 2"/>
          <p:cNvPicPr>
            <a:picLocks/>
          </p:cNvPicPr>
          <p:nvPr/>
        </p:nvPicPr>
        <p:blipFill>
          <a:blip r:embed="rId2">
            <a:extLst>
              <a:ext uri="{28A0092B-C50C-407E-A947-70E740481C1C}">
                <a14:useLocalDpi xmlns:a14="http://schemas.microsoft.com/office/drawing/2010/main" val="0"/>
              </a:ext>
            </a:extLst>
          </a:blip>
          <a:stretch>
            <a:fillRect/>
          </a:stretch>
        </p:blipFill>
        <p:spPr>
          <a:xfrm>
            <a:off x="508000" y="1524000"/>
            <a:ext cx="11430000" cy="6604000"/>
          </a:xfrm>
          <a:prstGeom prst="rect">
            <a:avLst/>
          </a:prstGeom>
        </p:spPr>
      </p:pic>
    </p:spTree>
    <p:extLst>
      <p:ext uri="{BB962C8B-B14F-4D97-AF65-F5344CB8AC3E}">
        <p14:creationId xmlns:p14="http://schemas.microsoft.com/office/powerpoint/2010/main" val="14460762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Image Translation Pipeline</a:t>
            </a:r>
            <a:endParaRPr lang="fr-FR"/>
          </a:p>
        </p:txBody>
      </p:sp>
      <p:pic>
        <p:nvPicPr>
          <p:cNvPr id="3" name="Image 2"/>
          <p:cNvPicPr>
            <a:picLocks/>
          </p:cNvPicPr>
          <p:nvPr/>
        </p:nvPicPr>
        <p:blipFill>
          <a:blip r:embed="rId2">
            <a:extLst>
              <a:ext uri="{28A0092B-C50C-407E-A947-70E740481C1C}">
                <a14:useLocalDpi xmlns:a14="http://schemas.microsoft.com/office/drawing/2010/main" val="0"/>
              </a:ext>
            </a:extLst>
          </a:blip>
          <a:stretch>
            <a:fillRect/>
          </a:stretch>
        </p:blipFill>
        <p:spPr>
          <a:xfrm>
            <a:off x="508000" y="1524000"/>
            <a:ext cx="11430000" cy="6604000"/>
          </a:xfrm>
          <a:prstGeom prst="rect">
            <a:avLst/>
          </a:prstGeom>
        </p:spPr>
      </p:pic>
    </p:spTree>
    <p:extLst>
      <p:ext uri="{BB962C8B-B14F-4D97-AF65-F5344CB8AC3E}">
        <p14:creationId xmlns:p14="http://schemas.microsoft.com/office/powerpoint/2010/main" val="325555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Modular Architecture</a:t>
            </a:r>
            <a:endParaRPr lang="fr-FR"/>
          </a:p>
        </p:txBody>
      </p:sp>
      <p:pic>
        <p:nvPicPr>
          <p:cNvPr id="3" name="Image 2"/>
          <p:cNvPicPr>
            <a:picLocks/>
          </p:cNvPicPr>
          <p:nvPr/>
        </p:nvPicPr>
        <p:blipFill>
          <a:blip r:embed="rId3">
            <a:extLst>
              <a:ext uri="{28A0092B-C50C-407E-A947-70E740481C1C}">
                <a14:useLocalDpi xmlns:a14="http://schemas.microsoft.com/office/drawing/2010/main" val="0"/>
              </a:ext>
            </a:extLst>
          </a:blip>
          <a:stretch>
            <a:fillRect/>
          </a:stretch>
        </p:blipFill>
        <p:spPr>
          <a:xfrm>
            <a:off x="508000" y="1524000"/>
            <a:ext cx="11430000" cy="6604000"/>
          </a:xfrm>
          <a:prstGeom prst="rect">
            <a:avLst/>
          </a:prstGeom>
        </p:spPr>
      </p:pic>
    </p:spTree>
    <p:extLst>
      <p:ext uri="{BB962C8B-B14F-4D97-AF65-F5344CB8AC3E}">
        <p14:creationId xmlns:p14="http://schemas.microsoft.com/office/powerpoint/2010/main" val="3996339156"/>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197</TotalTime>
  <Words>35</Words>
  <Application>Microsoft Office PowerPoint</Application>
  <PresentationFormat>Grand écran</PresentationFormat>
  <Paragraphs>23</Paragraphs>
  <Slides>6</Slides>
  <Notes>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6</vt:i4>
      </vt:variant>
    </vt:vector>
  </HeadingPairs>
  <TitlesOfParts>
    <vt:vector size="10" baseType="lpstr">
      <vt:lpstr>Arial</vt:lpstr>
      <vt:lpstr>Calibri</vt:lpstr>
      <vt:lpstr>Calibri Light</vt:lpstr>
      <vt:lpstr>Thème Office</vt:lpstr>
      <vt:lpstr>Darija Translator</vt:lpstr>
      <vt:lpstr>Architecture Overview</vt:lpstr>
      <vt:lpstr>Text Translation Pipeline</vt:lpstr>
      <vt:lpstr>Voice Translation Pipeline</vt:lpstr>
      <vt:lpstr>Image Translation Pipeline</vt:lpstr>
      <vt:lpstr>Modular Architecture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Darija Translator</dc:title>
  <dc:creator>HP</dc:creator>
  <cp:lastModifiedBy>HP</cp:lastModifiedBy>
  <cp:revision>3</cp:revision>
  <dcterms:created xsi:type="dcterms:W3CDTF">2025-12-23T15:21:15Z</dcterms:created>
  <dcterms:modified xsi:type="dcterms:W3CDTF">2025-12-23T18:39:36Z</dcterms:modified>
</cp:coreProperties>
</file>